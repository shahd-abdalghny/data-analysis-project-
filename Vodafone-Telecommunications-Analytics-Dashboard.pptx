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embeddedFontLst>
    <p:embeddedFont>
      <p:font typeface="Sora SemiBold" pitchFamily="34" charset="0"/>
      <p:bold r:id="rId20"/>
    </p:embeddedFont>
    <p:embeddedFont>
      <p:font typeface="Sora SemiBold" pitchFamily="34" charset="-122"/>
      <p:bold r:id="rId21"/>
    </p:embeddedFont>
    <p:embeddedFont>
      <p:font typeface="Sora SemiBold" pitchFamily="34" charset="-120"/>
      <p:bold r:id="rId22"/>
    </p:embeddedFont>
    <p:embeddedFont>
      <p:font typeface="Sora Light" pitchFamily="34" charset="0"/>
      <p:regular r:id="rId23"/>
    </p:embeddedFont>
    <p:embeddedFont>
      <p:font typeface="Sora Light" pitchFamily="34" charset="-122"/>
      <p:regular r:id="rId24"/>
    </p:embeddedFont>
    <p:embeddedFont>
      <p:font typeface="Sora Light" pitchFamily="34" charset="-120"/>
      <p:regular r:id="rId25"/>
    </p:embeddedFont>
    <p:embeddedFont>
      <p:font typeface="Sora Bold" pitchFamily="34" charset="0"/>
      <p:bold r:id="rId26"/>
    </p:embeddedFont>
    <p:embeddedFont>
      <p:font typeface="Sora Bold" pitchFamily="34" charset="-122"/>
      <p:bold r:id="rId27"/>
    </p:embeddedFont>
    <p:embeddedFont>
      <p:font typeface="Sora Bold" pitchFamily="34" charset="-12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2" y="1395636"/>
            <a:ext cx="3293641" cy="23522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02943" y="1400845"/>
            <a:ext cx="4767114" cy="1336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Vodafone Telecommunications Analytics Dashboard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3902943" y="2940248"/>
            <a:ext cx="4767114" cy="8024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Business intelligence project — analyzing telecommunications data using Power BI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E6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made by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· Shahd Abdelghany &amp; LeQaa Bakhit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3943" y="398041"/>
            <a:ext cx="1116657" cy="176808"/>
          </a:xfrm>
          <a:prstGeom prst="roundRect">
            <a:avLst>
              <a:gd name="adj" fmla="val 22115"/>
            </a:avLst>
          </a:prstGeom>
          <a:solidFill>
            <a:srgbClr val="F9D2D6"/>
          </a:solidFill>
        </p:spPr>
      </p:sp>
      <p:sp>
        <p:nvSpPr>
          <p:cNvPr id="4" name="Text 1"/>
          <p:cNvSpPr/>
          <p:nvPr/>
        </p:nvSpPr>
        <p:spPr>
          <a:xfrm>
            <a:off x="543744" y="432941"/>
            <a:ext cx="1434257" cy="107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73943" y="614809"/>
            <a:ext cx="4767114" cy="3827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Goal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73943" y="1147465"/>
            <a:ext cx="4767114" cy="5192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 Vodafone telecom data and provide accurate business insights using Power BI to help decision-makers improve services, increase revenue, and raise customer satisfaction.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3943" y="1779166"/>
            <a:ext cx="4767114" cy="666601"/>
          </a:xfrm>
          <a:prstGeom prst="roundRect">
            <a:avLst>
              <a:gd name="adj" fmla="val 7332"/>
            </a:avLst>
          </a:prstGeom>
          <a:solidFill>
            <a:srgbClr val="E60000"/>
          </a:solidFill>
          <a:ln w="4763">
            <a:solidFill>
              <a:srgbClr val="FF191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5015" y="1900237"/>
            <a:ext cx="4524970" cy="191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5015" y="2151608"/>
            <a:ext cx="4524970" cy="1730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 complaints and reduce response time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3943" y="2545705"/>
            <a:ext cx="4767114" cy="666601"/>
          </a:xfrm>
          <a:prstGeom prst="roundRect">
            <a:avLst>
              <a:gd name="adj" fmla="val 7332"/>
            </a:avLst>
          </a:prstGeom>
          <a:solidFill>
            <a:srgbClr val="E60000"/>
          </a:solidFill>
          <a:ln w="4763">
            <a:solidFill>
              <a:srgbClr val="FF191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5015" y="2666777"/>
            <a:ext cx="4524970" cy="191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Sales Performance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5015" y="2918147"/>
            <a:ext cx="4524970" cy="1730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Compare store branches and identify patterns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3943" y="3312244"/>
            <a:ext cx="4767114" cy="666601"/>
          </a:xfrm>
          <a:prstGeom prst="roundRect">
            <a:avLst>
              <a:gd name="adj" fmla="val 7332"/>
            </a:avLst>
          </a:prstGeom>
          <a:solidFill>
            <a:srgbClr val="E60000"/>
          </a:solidFill>
          <a:ln w="4763">
            <a:solidFill>
              <a:srgbClr val="FF191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5015" y="3433316"/>
            <a:ext cx="4524970" cy="191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Recharge Analysis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5015" y="3684687"/>
            <a:ext cx="4524970" cy="1730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revenue and payment patterns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3943" y="4078784"/>
            <a:ext cx="4767114" cy="666601"/>
          </a:xfrm>
          <a:prstGeom prst="roundRect">
            <a:avLst>
              <a:gd name="adj" fmla="val 7332"/>
            </a:avLst>
          </a:prstGeom>
          <a:solidFill>
            <a:srgbClr val="E60000"/>
          </a:solidFill>
          <a:ln w="4763">
            <a:solidFill>
              <a:srgbClr val="FF191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5015" y="4199855"/>
            <a:ext cx="4524970" cy="191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Subscriptions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5015" y="4451226"/>
            <a:ext cx="4524970" cy="1730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subscription trends and line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72368"/>
            <a:ext cx="368350" cy="102766"/>
          </a:xfrm>
          <a:prstGeom prst="roundRect">
            <a:avLst>
              <a:gd name="adj" fmla="val 22137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499" y="392609"/>
            <a:ext cx="744438" cy="62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DATASETS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73943" y="488603"/>
            <a:ext cx="819611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Description of the Datasets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3943" y="762000"/>
            <a:ext cx="8653314" cy="81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project relies on five interconnected datasets that cover all aspects of Vodafone's business.</a:t>
            </a:r>
            <a:endParaRPr lang="en-US" sz="1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919311"/>
            <a:ext cx="4015457" cy="40154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732" y="1507718"/>
            <a:ext cx="4015457" cy="1113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Linking Variables</a:t>
            </a:r>
            <a:endParaRPr lang="en-US" sz="1000" dirty="0">
              <a:solidFill>
                <a:srgbClr val="1F1E1E"/>
              </a:solidFill>
              <a:latin typeface="Sora SemiBold" pitchFamily="34" charset="0"/>
              <a:ea typeface="Sora SemiBold" pitchFamily="34" charset="-122"/>
              <a:cs typeface="Sora Semi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1365" y="1750060"/>
            <a:ext cx="4015740" cy="46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tables are connected through the </a:t>
            </a:r>
            <a:r>
              <a:rPr lang="en-US" sz="9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subscriber_id</a:t>
            </a: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</a:t>
            </a:r>
            <a:r>
              <a:rPr lang="en-US" sz="9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subscription_id</a:t>
            </a: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keys, enabling integrated and comprehensive analysis.</a:t>
            </a:r>
            <a:endParaRPr lang="en-US" sz="9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1365" y="2305685"/>
            <a:ext cx="4015740" cy="12439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Subcribers:</a:t>
            </a: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demographic data and governorate</a:t>
            </a:r>
            <a:endParaRPr lang="en-US" sz="10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Subscriptions:</a:t>
            </a: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line type and subscription status</a:t>
            </a:r>
            <a:endParaRPr lang="en-US" sz="10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Recharges:</a:t>
            </a: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amount and payment method</a:t>
            </a:r>
            <a:endParaRPr lang="en-US" sz="10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Shop Sales:</a:t>
            </a: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branch, product, and revenue</a:t>
            </a:r>
            <a:endParaRPr lang="en-US" sz="10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Complaints:</a:t>
            </a: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category, resolution time, and satisfaction</a:t>
            </a:r>
            <a:endParaRPr lang="en-US" sz="10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3943" y="388367"/>
            <a:ext cx="1101328" cy="183282"/>
          </a:xfrm>
          <a:prstGeom prst="roundRect">
            <a:avLst>
              <a:gd name="adj" fmla="val 22109"/>
            </a:avLst>
          </a:prstGeom>
          <a:solidFill>
            <a:srgbClr val="F9D2D6"/>
          </a:solidFill>
        </p:spPr>
      </p:sp>
      <p:sp>
        <p:nvSpPr>
          <p:cNvPr id="4" name="Text 1"/>
          <p:cNvSpPr/>
          <p:nvPr/>
        </p:nvSpPr>
        <p:spPr>
          <a:xfrm>
            <a:off x="546274" y="424532"/>
            <a:ext cx="1413867" cy="1109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PROCESSING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73943" y="614586"/>
            <a:ext cx="4767114" cy="396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Cleaning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73943" y="1172394"/>
            <a:ext cx="241176" cy="150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3943" y="1363042"/>
            <a:ext cx="4767114" cy="14288"/>
          </a:xfrm>
          <a:prstGeom prst="rect">
            <a:avLst/>
          </a:prstGeom>
          <a:solidFill>
            <a:srgbClr val="DA1B2E"/>
          </a:solidFill>
        </p:spPr>
      </p:sp>
      <p:sp>
        <p:nvSpPr>
          <p:cNvPr id="8" name="Text 5"/>
          <p:cNvSpPr/>
          <p:nvPr/>
        </p:nvSpPr>
        <p:spPr>
          <a:xfrm>
            <a:off x="473943" y="1451893"/>
            <a:ext cx="4767114" cy="1983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Standardize text values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3943" y="1714723"/>
            <a:ext cx="4767114" cy="1823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Handle variation in spelling and standardize governorate and region names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3943" y="2094905"/>
            <a:ext cx="241176" cy="150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3943" y="2285554"/>
            <a:ext cx="4767114" cy="14288"/>
          </a:xfrm>
          <a:prstGeom prst="rect">
            <a:avLst/>
          </a:prstGeom>
          <a:solidFill>
            <a:srgbClr val="DA1B2E"/>
          </a:solidFill>
        </p:spPr>
      </p:sp>
      <p:sp>
        <p:nvSpPr>
          <p:cNvPr id="12" name="Text 9"/>
          <p:cNvSpPr/>
          <p:nvPr/>
        </p:nvSpPr>
        <p:spPr>
          <a:xfrm>
            <a:off x="473943" y="2374404"/>
            <a:ext cx="4767114" cy="1983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Convert data types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3943" y="2637234"/>
            <a:ext cx="4767114" cy="1823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Convert dates and financial values to the correct numeric formats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3943" y="3017416"/>
            <a:ext cx="241176" cy="150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3943" y="3208065"/>
            <a:ext cx="4767114" cy="14288"/>
          </a:xfrm>
          <a:prstGeom prst="rect">
            <a:avLst/>
          </a:prstGeom>
          <a:solidFill>
            <a:srgbClr val="DA1B2E"/>
          </a:solidFill>
        </p:spPr>
      </p:sp>
      <p:sp>
        <p:nvSpPr>
          <p:cNvPr id="16" name="Text 13"/>
          <p:cNvSpPr/>
          <p:nvPr/>
        </p:nvSpPr>
        <p:spPr>
          <a:xfrm>
            <a:off x="473943" y="3296915"/>
            <a:ext cx="4767114" cy="1983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3943" y="3559746"/>
            <a:ext cx="4767114" cy="1823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Remove duplicates and deal with empty or invalid values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3943" y="3939927"/>
            <a:ext cx="241176" cy="150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3943" y="4130576"/>
            <a:ext cx="4767114" cy="14288"/>
          </a:xfrm>
          <a:prstGeom prst="rect">
            <a:avLst/>
          </a:prstGeom>
          <a:solidFill>
            <a:srgbClr val="DA1B2E"/>
          </a:solidFill>
        </p:spPr>
      </p:sp>
      <p:sp>
        <p:nvSpPr>
          <p:cNvPr id="20" name="Text 17"/>
          <p:cNvSpPr/>
          <p:nvPr/>
        </p:nvSpPr>
        <p:spPr>
          <a:xfrm>
            <a:off x="473943" y="4219426"/>
            <a:ext cx="4767114" cy="1983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Split compound fields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3943" y="4482257"/>
            <a:ext cx="4767114" cy="1823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Separate the region and postal code field into two independent columns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0079"/>
            <a:ext cx="8196114" cy="2922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Cleaning Result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73943" y="828080"/>
            <a:ext cx="3989710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Before Cleaning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039713"/>
            <a:ext cx="2543175" cy="3095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4200897"/>
            <a:ext cx="3989710" cy="532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Inconsistent governorate names (CAIRO, Cairo, cairo)</a:t>
            </a:r>
            <a:endParaRPr lang="en-US" sz="650" dirty="0"/>
          </a:p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Duplicate entries with different spellings</a:t>
            </a:r>
            <a:endParaRPr lang="en-US" sz="650" dirty="0"/>
          </a:p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Combined region_and_zip field</a:t>
            </a:r>
            <a:endParaRPr lang="en-US" sz="650" dirty="0"/>
          </a:p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quality issues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85109" y="828080"/>
            <a:ext cx="3989710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After Cleaning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09" y="1039713"/>
            <a:ext cx="2195513" cy="1666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85109" y="2772147"/>
            <a:ext cx="3989710" cy="532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Standardized governorate names</a:t>
            </a:r>
            <a:endParaRPr lang="en-US" sz="650" dirty="0"/>
          </a:p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Removed duplicates</a:t>
            </a:r>
            <a:endParaRPr lang="en-US" sz="650" dirty="0"/>
          </a:p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Split into separate region and zip_code columns</a:t>
            </a:r>
            <a:endParaRPr lang="en-US" sz="650" dirty="0"/>
          </a:p>
          <a:p>
            <a:pPr marL="132080" indent="-132080" algn="l">
              <a:lnSpc>
                <a:spcPct val="110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Clean, consistent data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684"/>
            <a:ext cx="8196114" cy="347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Splitting Compound Fields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73943" y="931218"/>
            <a:ext cx="3969023" cy="173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Before: Combined region_and_zip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198141"/>
            <a:ext cx="2241649" cy="27571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4048199"/>
            <a:ext cx="3969023" cy="6896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Single column with mixed data</a:t>
            </a:r>
            <a:endParaRPr lang="en-US" sz="800" dirty="0"/>
          </a:p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Region and zip code combined</a:t>
            </a:r>
            <a:endParaRPr lang="en-US" sz="800" dirty="0"/>
          </a:p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Difficult to analyze separately</a:t>
            </a:r>
            <a:endParaRPr lang="en-US" sz="800" dirty="0"/>
          </a:p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extraction required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705796" y="931218"/>
            <a:ext cx="3969023" cy="173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After: Separate region and zip_code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96" y="1198141"/>
            <a:ext cx="2768203" cy="27571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5796" y="4048199"/>
            <a:ext cx="3969023" cy="6896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Two separate columns</a:t>
            </a:r>
            <a:endParaRPr lang="en-US" sz="800" dirty="0"/>
          </a:p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Region in one column</a:t>
            </a:r>
            <a:endParaRPr lang="en-US" sz="800" dirty="0"/>
          </a:p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Zip code in another column</a:t>
            </a:r>
            <a:endParaRPr lang="en-US" sz="800" dirty="0"/>
          </a:p>
          <a:p>
            <a:pPr marL="162560" indent="-162560" algn="l">
              <a:lnSpc>
                <a:spcPct val="119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Easy to filter and analyze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4767"/>
            <a:ext cx="8196114" cy="3341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Handling Unnatural Age and Birth Date Values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3943" y="919237"/>
            <a:ext cx="3974157" cy="167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Quality Issues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171947"/>
            <a:ext cx="3473425" cy="26468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3904431"/>
            <a:ext cx="3974157" cy="64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 values ranging from 0 to 120+ years</a:t>
            </a:r>
            <a:endParaRPr lang="en-US" sz="750" dirty="0"/>
          </a:p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Unrealistic birth dates (1900-01-01)</a:t>
            </a:r>
            <a:endParaRPr lang="en-US" sz="750" dirty="0"/>
          </a:p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Future dates (2029-05-05)</a:t>
            </a:r>
            <a:endParaRPr lang="en-US" sz="750" dirty="0"/>
          </a:p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entry errors and invalid records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700662" y="919237"/>
            <a:ext cx="3974157" cy="167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Cleaning Solution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662" y="1171947"/>
            <a:ext cx="3887614" cy="26468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0662" y="3904431"/>
            <a:ext cx="3974157" cy="8175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Remove records with age &lt; 18 or &gt; 100</a:t>
            </a:r>
            <a:endParaRPr lang="en-US" sz="750" dirty="0"/>
          </a:p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Filter out birth dates before 1924 or after current year</a:t>
            </a:r>
            <a:endParaRPr lang="en-US" sz="750" dirty="0"/>
          </a:p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Validate date formats</a:t>
            </a:r>
            <a:endParaRPr lang="en-US" sz="750" dirty="0"/>
          </a:p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Keep only realistic customer age ranges</a:t>
            </a:r>
            <a:endParaRPr lang="en-US" sz="750" dirty="0"/>
          </a:p>
          <a:p>
            <a:pPr marL="152400" indent="-152400" algn="l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Result: Clean, valid demographic data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95362"/>
            <a:ext cx="1526977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129" y="435918"/>
            <a:ext cx="1821805" cy="124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MODELING AND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655141"/>
            <a:ext cx="8196114" cy="445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Modeling and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3943" y="1303660"/>
            <a:ext cx="8653314" cy="216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3943" y="1723430"/>
            <a:ext cx="819611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model in Power BI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3943" y="2149153"/>
            <a:ext cx="8196114" cy="4333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tables were linked through the </a:t>
            </a: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subscriber_id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</a:t>
            </a: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subscription_id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keys, with a </a:t>
            </a: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Calendar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table added to support time-based analysis.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3943" y="2785616"/>
            <a:ext cx="8196114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Dashboard pages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3943" y="3211339"/>
            <a:ext cx="8196114" cy="15367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Home: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comprehensive executive summary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Subscribers: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demographic distribution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Subscriptions: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line types and trends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Recharges: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revenue and transactions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Shop Sales: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branch and product performance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Complaints: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categories and satisfaction level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615702"/>
            <a:ext cx="1149846" cy="205680"/>
          </a:xfrm>
          <a:prstGeom prst="roundRect">
            <a:avLst>
              <a:gd name="adj" fmla="val 22121"/>
            </a:avLst>
          </a:prstGeom>
          <a:solidFill>
            <a:srgbClr val="F9D2D6"/>
          </a:solidFill>
        </p:spPr>
      </p:sp>
      <p:sp>
        <p:nvSpPr>
          <p:cNvPr id="3" name="Text 1"/>
          <p:cNvSpPr/>
          <p:nvPr/>
        </p:nvSpPr>
        <p:spPr>
          <a:xfrm>
            <a:off x="555129" y="656258"/>
            <a:ext cx="1444675" cy="124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VISUAL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875481"/>
            <a:ext cx="8196114" cy="445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Subscribers and Subscriptions Dashboard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685" y="1524000"/>
            <a:ext cx="3150870" cy="19475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43" y="3479155"/>
            <a:ext cx="401344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Subscribers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943" y="3782988"/>
            <a:ext cx="4013448" cy="4807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subscribers and geographic distribution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Gender and age group distribution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509" y="1524000"/>
            <a:ext cx="2889647" cy="17859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6609" y="3479155"/>
            <a:ext cx="401344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Subscriptions Dashboard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656609" y="3782988"/>
            <a:ext cx="4013448" cy="744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Distribution of line types (Prepaid / Postpaid)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Percentage of active subscriptions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Subscription trend over time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615702"/>
            <a:ext cx="1149846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129" y="656258"/>
            <a:ext cx="1444675" cy="124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VISUAL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875481"/>
            <a:ext cx="8196114" cy="445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Recharge and Store Sales Dashboard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844" y="1524000"/>
            <a:ext cx="2889647" cy="17859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43" y="3479155"/>
            <a:ext cx="401344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Recharge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943" y="3782988"/>
            <a:ext cx="4013448" cy="744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revenue and number of transactions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 recharge amount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Revenue by payment method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509" y="1524000"/>
            <a:ext cx="2889647" cy="17859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6609" y="3479155"/>
            <a:ext cx="401344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Store Sales Dashboard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656609" y="3782988"/>
            <a:ext cx="4013448" cy="744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sales and quantities sold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 order value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Sales by branch and product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09352"/>
            <a:ext cx="1042392" cy="186333"/>
          </a:xfrm>
          <a:prstGeom prst="roundRect">
            <a:avLst>
              <a:gd name="adj" fmla="val 22129"/>
            </a:avLst>
          </a:prstGeom>
          <a:solidFill>
            <a:srgbClr val="F9D2D6"/>
          </a:solidFill>
        </p:spPr>
      </p:sp>
      <p:sp>
        <p:nvSpPr>
          <p:cNvPr id="3" name="Text 1"/>
          <p:cNvSpPr/>
          <p:nvPr/>
        </p:nvSpPr>
        <p:spPr>
          <a:xfrm>
            <a:off x="547539" y="446112"/>
            <a:ext cx="1352401" cy="1128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VISUAL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3943" y="640110"/>
            <a:ext cx="8196114" cy="403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Complaints Dashboard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436787"/>
            <a:ext cx="5222677" cy="278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43" y="4345781"/>
            <a:ext cx="5679877" cy="187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00676" y="1321743"/>
            <a:ext cx="2674069" cy="201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Performance Indicators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00676" y="1634728"/>
            <a:ext cx="2674069" cy="14652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complaints and average resolution days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 customer satisfaction score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Complaint distribution by category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Complaints trend over time</a:t>
            </a:r>
            <a:endParaRPr lang="en-US" sz="950" dirty="0"/>
          </a:p>
          <a:p>
            <a:pPr marL="193040" indent="-193040" algn="l">
              <a:lnSpc>
                <a:spcPct val="127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Relationship between resolution time and satisfaction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00676" y="3225031"/>
            <a:ext cx="2674069" cy="1383953"/>
          </a:xfrm>
          <a:prstGeom prst="roundRect">
            <a:avLst>
              <a:gd name="adj" fmla="val 3724"/>
            </a:avLst>
          </a:prstGeom>
          <a:solidFill>
            <a:srgbClr val="F9D2D6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384" y="3404369"/>
            <a:ext cx="153367" cy="1227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99461" y="3355777"/>
            <a:ext cx="2152576" cy="11224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Key insight:</a:t>
            </a: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The longer a complaint takes to resolve, the lower the customer satisfaction score — underscoring the importance of reducing response time.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078855"/>
            <a:ext cx="2205484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129" y="1119411"/>
            <a:ext cx="2500313" cy="124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INSIGHTS AND RECOMMENDATIONS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338635"/>
            <a:ext cx="8196114" cy="445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Business Insights and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3943" y="2122512"/>
            <a:ext cx="393285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480518"/>
            <a:ext cx="3932858" cy="100875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Cairo has the largest subscriber base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Prepaid customers make up the majority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Network issues lead the complaints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Resolution time affects customer satisfaction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962" y="2122512"/>
            <a:ext cx="393285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1962" y="2480518"/>
            <a:ext cx="3932858" cy="15367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 network quality and reduce outages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 complaint resolution time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Marketing campaigns for high-value customers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 recharge offers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Increase the efficiency of lower-performing branches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 the overall customer experience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826815"/>
            <a:ext cx="955402" cy="205680"/>
          </a:xfrm>
          <a:prstGeom prst="roundRect">
            <a:avLst>
              <a:gd name="adj" fmla="val 22121"/>
            </a:avLst>
          </a:prstGeom>
          <a:solidFill>
            <a:srgbClr val="F9D2D6"/>
          </a:solidFill>
        </p:spPr>
      </p:sp>
      <p:sp>
        <p:nvSpPr>
          <p:cNvPr id="3" name="Text 1"/>
          <p:cNvSpPr/>
          <p:nvPr/>
        </p:nvSpPr>
        <p:spPr>
          <a:xfrm>
            <a:off x="555129" y="867370"/>
            <a:ext cx="1250231" cy="124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086594"/>
            <a:ext cx="8196114" cy="445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Tools, Challenges, and 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3943" y="1870472"/>
            <a:ext cx="393285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228478"/>
            <a:ext cx="3932858" cy="4807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 · Pandas · NumPy . Matplotlib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Power BI · DAX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3943" y="2844552"/>
            <a:ext cx="393285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3943" y="3202558"/>
            <a:ext cx="3932858" cy="744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Missing values and inconsistent formatting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cleaning and model building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Creating relationships between tables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41962" y="1870472"/>
            <a:ext cx="3932858" cy="2226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6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41962" y="2228478"/>
            <a:ext cx="3932858" cy="8667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project delivered an interactive dashboard that transforms Vodafone data into actionable insights, supports decision-making, and improves business performance.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1962" y="3281363"/>
            <a:ext cx="3932858" cy="19050"/>
          </a:xfrm>
          <a:prstGeom prst="roundRect">
            <a:avLst>
              <a:gd name="adj" fmla="val 60000"/>
            </a:avLst>
          </a:prstGeom>
          <a:solidFill>
            <a:srgbClr val="3B3535">
              <a:alpha val="5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741962" y="3486522"/>
            <a:ext cx="3932858" cy="356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Thank you for attending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41962" y="3978176"/>
            <a:ext cx="4390058" cy="216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welcome your questions and kind feedback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4852</Words>
  <Application>WPS Presentation</Application>
  <PresentationFormat>On-screen Show (16:9)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Sora SemiBold</vt:lpstr>
      <vt:lpstr>Sora SemiBold</vt:lpstr>
      <vt:lpstr>Sora SemiBold</vt:lpstr>
      <vt:lpstr>Sora Light</vt:lpstr>
      <vt:lpstr>Sora Light</vt:lpstr>
      <vt:lpstr>Sora Light</vt:lpstr>
      <vt:lpstr>Sora Bold</vt:lpstr>
      <vt:lpstr>Sora Bold</vt:lpstr>
      <vt:lpstr>Sora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shahd Abdalgny</cp:lastModifiedBy>
  <cp:revision>2</cp:revision>
  <dcterms:created xsi:type="dcterms:W3CDTF">2026-07-10T19:19:00Z</dcterms:created>
  <dcterms:modified xsi:type="dcterms:W3CDTF">2026-07-10T19:45:51Z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D45D15F9DF3945A6A29000E69B5D232A_13</vt:lpwstr>
  </property>
  <property fmtid="{D5CDD505-2E9C-101B-9397-08002B2CF9AE}" pid="3" name="KSOProductBuildVer">
    <vt:lpwstr>1033-12.1.0.26880</vt:lpwstr>
  </property>
</Properties>
</file>